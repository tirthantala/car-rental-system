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nva Sans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Now" panose="020B0604020202020204" charset="0"/>
      <p:regular r:id="rId17"/>
    </p:embeddedFont>
    <p:embeddedFont>
      <p:font typeface="Raleway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5.jpe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40041" y="1028700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27940" y="-2321724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765801" cy="1799409"/>
          </a:xfrm>
          <a:custGeom>
            <a:avLst/>
            <a:gdLst/>
            <a:ahLst/>
            <a:cxnLst/>
            <a:rect l="l" t="t" r="r" b="b"/>
            <a:pathLst>
              <a:path w="1765801" h="1799409">
                <a:moveTo>
                  <a:pt x="0" y="0"/>
                </a:moveTo>
                <a:lnTo>
                  <a:pt x="1765801" y="0"/>
                </a:lnTo>
                <a:lnTo>
                  <a:pt x="1765801" y="1799409"/>
                </a:lnTo>
                <a:lnTo>
                  <a:pt x="0" y="1799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1" r="-9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19376" y="-12156"/>
            <a:ext cx="5468624" cy="1040856"/>
          </a:xfrm>
          <a:custGeom>
            <a:avLst/>
            <a:gdLst/>
            <a:ahLst/>
            <a:cxnLst/>
            <a:rect l="l" t="t" r="r" b="b"/>
            <a:pathLst>
              <a:path w="5468624" h="1040856">
                <a:moveTo>
                  <a:pt x="0" y="0"/>
                </a:moveTo>
                <a:lnTo>
                  <a:pt x="5468624" y="0"/>
                </a:lnTo>
                <a:lnTo>
                  <a:pt x="5468624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1599" y="3228002"/>
            <a:ext cx="17996401" cy="3697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7"/>
              </a:lnSpc>
            </a:pPr>
            <a:r>
              <a:rPr lang="en-US" sz="704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to various online tools for forms,documents,storage etc.</a:t>
            </a:r>
          </a:p>
          <a:p>
            <a:pPr algn="ctr">
              <a:lnSpc>
                <a:spcPts val="9867"/>
              </a:lnSpc>
            </a:pPr>
            <a:endParaRPr lang="en-US" sz="7048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40041" y="1028700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27940" y="-2321724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765801" cy="1799409"/>
          </a:xfrm>
          <a:custGeom>
            <a:avLst/>
            <a:gdLst/>
            <a:ahLst/>
            <a:cxnLst/>
            <a:rect l="l" t="t" r="r" b="b"/>
            <a:pathLst>
              <a:path w="1765801" h="1799409">
                <a:moveTo>
                  <a:pt x="0" y="0"/>
                </a:moveTo>
                <a:lnTo>
                  <a:pt x="1765801" y="0"/>
                </a:lnTo>
                <a:lnTo>
                  <a:pt x="1765801" y="1799409"/>
                </a:lnTo>
                <a:lnTo>
                  <a:pt x="0" y="1799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1" r="-9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19376" y="-12156"/>
            <a:ext cx="5468624" cy="1040856"/>
          </a:xfrm>
          <a:custGeom>
            <a:avLst/>
            <a:gdLst/>
            <a:ahLst/>
            <a:cxnLst/>
            <a:rect l="l" t="t" r="r" b="b"/>
            <a:pathLst>
              <a:path w="5468624" h="1040856">
                <a:moveTo>
                  <a:pt x="0" y="0"/>
                </a:moveTo>
                <a:lnTo>
                  <a:pt x="5468624" y="0"/>
                </a:lnTo>
                <a:lnTo>
                  <a:pt x="5468624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22020" y="910240"/>
            <a:ext cx="7259610" cy="139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27"/>
              </a:lnSpc>
            </a:pPr>
            <a:r>
              <a:rPr lang="en-US" sz="816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Prepared by: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2020" y="2561442"/>
            <a:ext cx="14021005" cy="668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968" lvl="1" indent="-400484" algn="l">
              <a:lnSpc>
                <a:spcPts val="4822"/>
              </a:lnSpc>
              <a:buFont typeface="Arial"/>
              <a:buChar char="•"/>
            </a:pPr>
            <a:r>
              <a:rPr lang="en-US" sz="370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Patel Dev Pragneshbhai</a:t>
            </a:r>
          </a:p>
          <a:p>
            <a:pPr algn="l">
              <a:lnSpc>
                <a:spcPts val="4822"/>
              </a:lnSpc>
            </a:pPr>
            <a:r>
              <a:rPr lang="en-US" sz="370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     24002170110139</a:t>
            </a:r>
          </a:p>
          <a:p>
            <a:pPr marL="800968" lvl="1" indent="-400484" algn="l">
              <a:lnSpc>
                <a:spcPts val="4822"/>
              </a:lnSpc>
              <a:buFont typeface="Arial"/>
              <a:buChar char="•"/>
            </a:pPr>
            <a:r>
              <a:rPr lang="en-US" sz="370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Antala Tirth Arvindbhai</a:t>
            </a:r>
          </a:p>
          <a:p>
            <a:pPr algn="l">
              <a:lnSpc>
                <a:spcPts val="4822"/>
              </a:lnSpc>
            </a:pPr>
            <a:r>
              <a:rPr lang="en-US" sz="370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    24002170110009</a:t>
            </a:r>
          </a:p>
          <a:p>
            <a:pPr marL="800968" lvl="1" indent="-400484" algn="l">
              <a:lnSpc>
                <a:spcPts val="4822"/>
              </a:lnSpc>
              <a:buFont typeface="Arial"/>
              <a:buChar char="•"/>
            </a:pPr>
            <a:r>
              <a:rPr lang="en-US" sz="370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Mungalpara Yashbhai Pareshbhai</a:t>
            </a:r>
          </a:p>
          <a:p>
            <a:pPr algn="l">
              <a:lnSpc>
                <a:spcPts val="4822"/>
              </a:lnSpc>
            </a:pPr>
            <a:r>
              <a:rPr lang="en-US" sz="370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    24002170110095</a:t>
            </a:r>
          </a:p>
          <a:p>
            <a:pPr marL="800968" lvl="1" indent="-400484" algn="l">
              <a:lnSpc>
                <a:spcPts val="4822"/>
              </a:lnSpc>
              <a:buFont typeface="Arial"/>
              <a:buChar char="•"/>
            </a:pPr>
            <a:r>
              <a:rPr lang="en-US" sz="370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Jain Suhani Pankajkumar</a:t>
            </a:r>
          </a:p>
          <a:p>
            <a:pPr algn="l">
              <a:lnSpc>
                <a:spcPts val="4822"/>
              </a:lnSpc>
            </a:pPr>
            <a:r>
              <a:rPr lang="en-US" sz="370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    24002170110062</a:t>
            </a:r>
          </a:p>
          <a:p>
            <a:pPr marL="800968" lvl="1" indent="-400484" algn="l">
              <a:lnSpc>
                <a:spcPts val="4822"/>
              </a:lnSpc>
              <a:buFont typeface="Arial"/>
              <a:buChar char="•"/>
            </a:pPr>
            <a:r>
              <a:rPr lang="en-US" sz="370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Limbasiya Ayushkumar Champakbhai</a:t>
            </a:r>
          </a:p>
          <a:p>
            <a:pPr algn="l">
              <a:lnSpc>
                <a:spcPts val="4822"/>
              </a:lnSpc>
            </a:pPr>
            <a:r>
              <a:rPr lang="en-US" sz="370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    24002170110083</a:t>
            </a:r>
          </a:p>
          <a:p>
            <a:pPr algn="l">
              <a:lnSpc>
                <a:spcPts val="4822"/>
              </a:lnSpc>
              <a:spcBef>
                <a:spcPct val="0"/>
              </a:spcBef>
            </a:pPr>
            <a:endParaRPr lang="en-US" sz="370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40041" y="1028700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27940" y="-2321724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765801" cy="1799409"/>
          </a:xfrm>
          <a:custGeom>
            <a:avLst/>
            <a:gdLst/>
            <a:ahLst/>
            <a:cxnLst/>
            <a:rect l="l" t="t" r="r" b="b"/>
            <a:pathLst>
              <a:path w="1765801" h="1799409">
                <a:moveTo>
                  <a:pt x="0" y="0"/>
                </a:moveTo>
                <a:lnTo>
                  <a:pt x="1765801" y="0"/>
                </a:lnTo>
                <a:lnTo>
                  <a:pt x="1765801" y="1799409"/>
                </a:lnTo>
                <a:lnTo>
                  <a:pt x="0" y="1799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1" r="-9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19376" y="-12156"/>
            <a:ext cx="5468624" cy="1040856"/>
          </a:xfrm>
          <a:custGeom>
            <a:avLst/>
            <a:gdLst/>
            <a:ahLst/>
            <a:cxnLst/>
            <a:rect l="l" t="t" r="r" b="b"/>
            <a:pathLst>
              <a:path w="5468624" h="1040856">
                <a:moveTo>
                  <a:pt x="0" y="0"/>
                </a:moveTo>
                <a:lnTo>
                  <a:pt x="5468624" y="0"/>
                </a:lnTo>
                <a:lnTo>
                  <a:pt x="5468624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43817" y="1402938"/>
            <a:ext cx="13431997" cy="8539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78"/>
              </a:lnSpc>
            </a:pPr>
            <a:endParaRPr dirty="0"/>
          </a:p>
          <a:p>
            <a:pPr algn="just">
              <a:lnSpc>
                <a:spcPts val="6178"/>
              </a:lnSpc>
            </a:pPr>
            <a:r>
              <a:rPr lang="en-US" sz="411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  <a:r>
              <a:rPr lang="en-US" sz="411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r>
              <a:rPr lang="en-US" sz="411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Online Tools for Forms &amp; Surveys</a:t>
            </a:r>
          </a:p>
          <a:p>
            <a:pPr algn="just">
              <a:lnSpc>
                <a:spcPts val="6178"/>
              </a:lnSpc>
            </a:pPr>
            <a:r>
              <a:rPr lang="en-US" sz="411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a) Google Forms</a:t>
            </a:r>
          </a:p>
          <a:p>
            <a:pPr algn="just">
              <a:lnSpc>
                <a:spcPts val="6178"/>
              </a:lnSpc>
            </a:pPr>
            <a:r>
              <a:rPr lang="en-US" sz="411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b) Microsoft Forms</a:t>
            </a:r>
          </a:p>
          <a:p>
            <a:pPr algn="just">
              <a:lnSpc>
                <a:spcPts val="6178"/>
              </a:lnSpc>
            </a:pPr>
            <a:r>
              <a:rPr lang="en-US" sz="411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2.Online Tools for Documents &amp; Collaboration</a:t>
            </a:r>
          </a:p>
          <a:p>
            <a:pPr algn="just">
              <a:lnSpc>
                <a:spcPts val="6178"/>
              </a:lnSpc>
            </a:pPr>
            <a:r>
              <a:rPr lang="en-US" sz="411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a) Google Docs</a:t>
            </a:r>
          </a:p>
          <a:p>
            <a:pPr algn="just">
              <a:lnSpc>
                <a:spcPts val="6178"/>
              </a:lnSpc>
            </a:pPr>
            <a:r>
              <a:rPr lang="en-US" sz="411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b) Notion</a:t>
            </a:r>
          </a:p>
          <a:p>
            <a:pPr algn="just">
              <a:lnSpc>
                <a:spcPts val="6178"/>
              </a:lnSpc>
            </a:pPr>
            <a:r>
              <a:rPr lang="en-US" sz="411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3.Online Tools for Cloud Storage</a:t>
            </a:r>
          </a:p>
          <a:p>
            <a:pPr algn="just">
              <a:lnSpc>
                <a:spcPts val="6178"/>
              </a:lnSpc>
            </a:pPr>
            <a:r>
              <a:rPr lang="en-US" sz="411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a) Google Drive</a:t>
            </a:r>
          </a:p>
          <a:p>
            <a:pPr algn="just">
              <a:lnSpc>
                <a:spcPts val="6178"/>
              </a:lnSpc>
            </a:pPr>
            <a:r>
              <a:rPr lang="en-US" sz="411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b) iCloud Drive</a:t>
            </a:r>
          </a:p>
          <a:p>
            <a:pPr algn="just">
              <a:lnSpc>
                <a:spcPts val="6178"/>
              </a:lnSpc>
            </a:pPr>
            <a:endParaRPr lang="en-US" sz="411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43816" y="747305"/>
            <a:ext cx="3490183" cy="1368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Index: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40041" y="1028700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27940" y="-2321724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765801" cy="1799409"/>
          </a:xfrm>
          <a:custGeom>
            <a:avLst/>
            <a:gdLst/>
            <a:ahLst/>
            <a:cxnLst/>
            <a:rect l="l" t="t" r="r" b="b"/>
            <a:pathLst>
              <a:path w="1765801" h="1799409">
                <a:moveTo>
                  <a:pt x="0" y="0"/>
                </a:moveTo>
                <a:lnTo>
                  <a:pt x="1765801" y="0"/>
                </a:lnTo>
                <a:lnTo>
                  <a:pt x="1765801" y="1799409"/>
                </a:lnTo>
                <a:lnTo>
                  <a:pt x="0" y="1799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1" r="-9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19376" y="-12156"/>
            <a:ext cx="5468624" cy="1040856"/>
          </a:xfrm>
          <a:custGeom>
            <a:avLst/>
            <a:gdLst/>
            <a:ahLst/>
            <a:cxnLst/>
            <a:rect l="l" t="t" r="r" b="b"/>
            <a:pathLst>
              <a:path w="5468624" h="1040856">
                <a:moveTo>
                  <a:pt x="0" y="0"/>
                </a:moveTo>
                <a:lnTo>
                  <a:pt x="5468624" y="0"/>
                </a:lnTo>
                <a:lnTo>
                  <a:pt x="5468624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46678" y="1403827"/>
            <a:ext cx="7216322" cy="1417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</a:pPr>
            <a:r>
              <a:rPr lang="en-US" sz="8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1950" y="3282720"/>
            <a:ext cx="14838913" cy="396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4078" lvl="1" indent="-437039" algn="l">
              <a:lnSpc>
                <a:spcPts val="5263"/>
              </a:lnSpc>
              <a:buFont typeface="Arial"/>
              <a:buChar char="•"/>
            </a:pPr>
            <a:r>
              <a:rPr lang="en-US" sz="404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In today’s digital world, online tools help individuals and businesses work efficiently.</a:t>
            </a:r>
          </a:p>
          <a:p>
            <a:pPr marL="874078" lvl="1" indent="-437039" algn="l">
              <a:lnSpc>
                <a:spcPts val="5263"/>
              </a:lnSpc>
              <a:buFont typeface="Arial"/>
              <a:buChar char="•"/>
            </a:pPr>
            <a:r>
              <a:rPr lang="en-US" sz="404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They enable collaboration, automation, and accessibility from anywhere.</a:t>
            </a:r>
          </a:p>
          <a:p>
            <a:pPr marL="874078" lvl="1" indent="-437039" algn="l">
              <a:lnSpc>
                <a:spcPts val="5263"/>
              </a:lnSpc>
              <a:buFont typeface="Arial"/>
              <a:buChar char="•"/>
            </a:pPr>
            <a:r>
              <a:rPr lang="en-US" sz="404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This presentation explores tools for creating forms, managing documents, and cloud storage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40041" y="1028700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27940" y="-2321724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765801" cy="1799409"/>
          </a:xfrm>
          <a:custGeom>
            <a:avLst/>
            <a:gdLst/>
            <a:ahLst/>
            <a:cxnLst/>
            <a:rect l="l" t="t" r="r" b="b"/>
            <a:pathLst>
              <a:path w="1765801" h="1799409">
                <a:moveTo>
                  <a:pt x="0" y="0"/>
                </a:moveTo>
                <a:lnTo>
                  <a:pt x="1765801" y="0"/>
                </a:lnTo>
                <a:lnTo>
                  <a:pt x="1765801" y="1799409"/>
                </a:lnTo>
                <a:lnTo>
                  <a:pt x="0" y="1799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1" r="-9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19376" y="-12156"/>
            <a:ext cx="5468624" cy="1040856"/>
          </a:xfrm>
          <a:custGeom>
            <a:avLst/>
            <a:gdLst/>
            <a:ahLst/>
            <a:cxnLst/>
            <a:rect l="l" t="t" r="r" b="b"/>
            <a:pathLst>
              <a:path w="5468624" h="1040856">
                <a:moveTo>
                  <a:pt x="0" y="0"/>
                </a:moveTo>
                <a:lnTo>
                  <a:pt x="5468624" y="0"/>
                </a:lnTo>
                <a:lnTo>
                  <a:pt x="5468624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35088" y="3680952"/>
            <a:ext cx="11043183" cy="533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8248" lvl="1" indent="-324124" algn="just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Google Forms is a free, user-friendly tool for creating surveys, quizzes, and forms with multiple question types like MCQs, checkboxes, and dropdowns. </a:t>
            </a:r>
          </a:p>
          <a:p>
            <a:pPr marL="648248" lvl="1" indent="-324124" algn="just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It supports real-time collaboration, auto-grading, and response analysis via Google Sheets. </a:t>
            </a:r>
          </a:p>
          <a:p>
            <a:pPr marL="648248" lvl="1" indent="-324124" algn="just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Features like conditional logic, file uploads, and Google Workspace integration enhance usability. </a:t>
            </a:r>
          </a:p>
          <a:p>
            <a:pPr marL="648248" lvl="1" indent="-324124" algn="just">
              <a:lnSpc>
                <a:spcPts val="4503"/>
              </a:lnSpc>
              <a:buFont typeface="Arial"/>
              <a:buChar char="•"/>
            </a:pPr>
            <a:r>
              <a:rPr lang="en-US" sz="3002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Forms can be shared via links, emails, or embedded on websites, and responses are automatically saved in Google Drive.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6082" y="1542655"/>
            <a:ext cx="12024562" cy="87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2"/>
              </a:lnSpc>
            </a:pPr>
            <a:r>
              <a:rPr lang="en-US" sz="5166" b="1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Online Tools for Forms &amp; Surveys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391442"/>
            <a:ext cx="521687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a) Google Forms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202213" y="3278537"/>
            <a:ext cx="5057087" cy="4765712"/>
          </a:xfrm>
          <a:custGeom>
            <a:avLst/>
            <a:gdLst/>
            <a:ahLst/>
            <a:cxnLst/>
            <a:rect l="l" t="t" r="r" b="b"/>
            <a:pathLst>
              <a:path w="5057087" h="4765712">
                <a:moveTo>
                  <a:pt x="0" y="0"/>
                </a:moveTo>
                <a:lnTo>
                  <a:pt x="5057087" y="0"/>
                </a:lnTo>
                <a:lnTo>
                  <a:pt x="5057087" y="4765712"/>
                </a:lnTo>
                <a:lnTo>
                  <a:pt x="0" y="47657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40041" y="1028700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27940" y="-2321724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765801" cy="1799409"/>
          </a:xfrm>
          <a:custGeom>
            <a:avLst/>
            <a:gdLst/>
            <a:ahLst/>
            <a:cxnLst/>
            <a:rect l="l" t="t" r="r" b="b"/>
            <a:pathLst>
              <a:path w="1765801" h="1799409">
                <a:moveTo>
                  <a:pt x="0" y="0"/>
                </a:moveTo>
                <a:lnTo>
                  <a:pt x="1765801" y="0"/>
                </a:lnTo>
                <a:lnTo>
                  <a:pt x="1765801" y="1799409"/>
                </a:lnTo>
                <a:lnTo>
                  <a:pt x="0" y="1799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1" r="-9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19376" y="-12156"/>
            <a:ext cx="5468624" cy="1040856"/>
          </a:xfrm>
          <a:custGeom>
            <a:avLst/>
            <a:gdLst/>
            <a:ahLst/>
            <a:cxnLst/>
            <a:rect l="l" t="t" r="r" b="b"/>
            <a:pathLst>
              <a:path w="5468624" h="1040856">
                <a:moveTo>
                  <a:pt x="0" y="0"/>
                </a:moveTo>
                <a:lnTo>
                  <a:pt x="5468624" y="0"/>
                </a:lnTo>
                <a:lnTo>
                  <a:pt x="5468624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2330603"/>
            <a:ext cx="612174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b) Microsoft Forms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4677" y="3642589"/>
            <a:ext cx="11288006" cy="627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2619" lvl="1" indent="-331309" algn="just">
              <a:lnSpc>
                <a:spcPts val="4603"/>
              </a:lnSpc>
              <a:buFont typeface="Arial"/>
              <a:buChar char="•"/>
            </a:pPr>
            <a:r>
              <a:rPr lang="en-US" sz="306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Microsoft Forms is a cloud-based tool within the Microsoft 365 suite, designed for creating surveys, quizzes, and polls with an intuitive interface.</a:t>
            </a:r>
          </a:p>
          <a:p>
            <a:pPr marL="662619" lvl="1" indent="-331309" algn="just">
              <a:lnSpc>
                <a:spcPts val="4603"/>
              </a:lnSpc>
              <a:buFont typeface="Arial"/>
              <a:buChar char="•"/>
            </a:pPr>
            <a:r>
              <a:rPr lang="en-US" sz="306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 It offers multiple question types, automatic grading for quizzes, and AI-powered insights for data analysis.</a:t>
            </a:r>
          </a:p>
          <a:p>
            <a:pPr marL="662619" lvl="1" indent="-331309" algn="just">
              <a:lnSpc>
                <a:spcPts val="4603"/>
              </a:lnSpc>
              <a:buFont typeface="Arial"/>
              <a:buChar char="•"/>
            </a:pPr>
            <a:r>
              <a:rPr lang="en-US" sz="306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Responses are stored in real-time and can be exported to Excel for advanced processing. </a:t>
            </a:r>
          </a:p>
          <a:p>
            <a:pPr marL="662619" lvl="1" indent="-331309" algn="just">
              <a:lnSpc>
                <a:spcPts val="4603"/>
              </a:lnSpc>
              <a:buFont typeface="Arial"/>
              <a:buChar char="•"/>
            </a:pPr>
            <a:r>
              <a:rPr lang="en-US" sz="3069">
                <a:solidFill>
                  <a:srgbClr val="1D1D1F"/>
                </a:solidFill>
                <a:latin typeface="Now"/>
                <a:ea typeface="Now"/>
                <a:cs typeface="Now"/>
                <a:sym typeface="Now"/>
              </a:rPr>
              <a:t>Seamlessly integrating with Microsoft Teams, OneDrive, and SharePoint, it enhances collaboration in education, businesses, and organizations.</a:t>
            </a:r>
          </a:p>
          <a:p>
            <a:pPr algn="just">
              <a:lnSpc>
                <a:spcPts val="4603"/>
              </a:lnSpc>
            </a:pPr>
            <a:endParaRPr lang="en-US" sz="3069">
              <a:solidFill>
                <a:srgbClr val="1D1D1F"/>
              </a:solidFill>
              <a:latin typeface="Now"/>
              <a:ea typeface="Now"/>
              <a:cs typeface="Now"/>
              <a:sym typeface="Now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2662723" y="3728314"/>
            <a:ext cx="4401123" cy="4080011"/>
          </a:xfrm>
          <a:custGeom>
            <a:avLst/>
            <a:gdLst/>
            <a:ahLst/>
            <a:cxnLst/>
            <a:rect l="l" t="t" r="r" b="b"/>
            <a:pathLst>
              <a:path w="4401123" h="4080011">
                <a:moveTo>
                  <a:pt x="0" y="0"/>
                </a:moveTo>
                <a:lnTo>
                  <a:pt x="4401123" y="0"/>
                </a:lnTo>
                <a:lnTo>
                  <a:pt x="4401123" y="4080011"/>
                </a:lnTo>
                <a:lnTo>
                  <a:pt x="0" y="40800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96557" y="1542655"/>
            <a:ext cx="12024562" cy="87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2"/>
              </a:lnSpc>
            </a:pPr>
            <a:r>
              <a:rPr lang="en-US" sz="5166" b="1">
                <a:solidFill>
                  <a:srgbClr val="1D1D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Online Tools for Forms &amp; Surveys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40041" y="1028700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27940" y="-2321724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765801" cy="1799409"/>
          </a:xfrm>
          <a:custGeom>
            <a:avLst/>
            <a:gdLst/>
            <a:ahLst/>
            <a:cxnLst/>
            <a:rect l="l" t="t" r="r" b="b"/>
            <a:pathLst>
              <a:path w="1765801" h="1799409">
                <a:moveTo>
                  <a:pt x="0" y="0"/>
                </a:moveTo>
                <a:lnTo>
                  <a:pt x="1765801" y="0"/>
                </a:lnTo>
                <a:lnTo>
                  <a:pt x="1765801" y="1799409"/>
                </a:lnTo>
                <a:lnTo>
                  <a:pt x="0" y="1799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1" r="-9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19376" y="-12156"/>
            <a:ext cx="5468624" cy="1040856"/>
          </a:xfrm>
          <a:custGeom>
            <a:avLst/>
            <a:gdLst/>
            <a:ahLst/>
            <a:cxnLst/>
            <a:rect l="l" t="t" r="r" b="b"/>
            <a:pathLst>
              <a:path w="5468624" h="1040856">
                <a:moveTo>
                  <a:pt x="0" y="0"/>
                </a:moveTo>
                <a:lnTo>
                  <a:pt x="5468624" y="0"/>
                </a:lnTo>
                <a:lnTo>
                  <a:pt x="5468624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08699" y="3670758"/>
            <a:ext cx="12310677" cy="5949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3510" lvl="1" indent="-331755" algn="l">
              <a:lnSpc>
                <a:spcPts val="4302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Google Docs is an online word processor developed by Google that allows users to create, edit, and share documents in real-time. </a:t>
            </a:r>
          </a:p>
          <a:p>
            <a:pPr marL="663510" lvl="1" indent="-331755" algn="l">
              <a:lnSpc>
                <a:spcPts val="4302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a part of Google Drive and works on web browsers, making it accessible from any device with an internet connection.</a:t>
            </a:r>
          </a:p>
          <a:p>
            <a:pPr marL="663510" lvl="1" indent="-331755" algn="l">
              <a:lnSpc>
                <a:spcPts val="4302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also supports collaboration, where multiple people can edit a document at the same time and leave comments. </a:t>
            </a:r>
          </a:p>
          <a:p>
            <a:pPr marL="663510" lvl="1" indent="-331755" algn="l">
              <a:lnSpc>
                <a:spcPts val="4302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can format text, insert images, create tables, and use various templates to make documents look professional. </a:t>
            </a:r>
          </a:p>
          <a:p>
            <a:pPr algn="ctr">
              <a:lnSpc>
                <a:spcPts val="4302"/>
              </a:lnSpc>
              <a:spcBef>
                <a:spcPct val="0"/>
              </a:spcBef>
            </a:pPr>
            <a:endParaRPr lang="en-US" sz="3073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3951037" y="4170104"/>
            <a:ext cx="3731406" cy="3463964"/>
          </a:xfrm>
          <a:custGeom>
            <a:avLst/>
            <a:gdLst/>
            <a:ahLst/>
            <a:cxnLst/>
            <a:rect l="l" t="t" r="r" b="b"/>
            <a:pathLst>
              <a:path w="3731406" h="3463964">
                <a:moveTo>
                  <a:pt x="0" y="0"/>
                </a:moveTo>
                <a:lnTo>
                  <a:pt x="3731406" y="0"/>
                </a:lnTo>
                <a:lnTo>
                  <a:pt x="3731406" y="3463964"/>
                </a:lnTo>
                <a:lnTo>
                  <a:pt x="0" y="34639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173" r="-11302" b="-1372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82900" y="1784283"/>
            <a:ext cx="13823700" cy="815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74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Online Tools for Documents &amp; Collaboration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2900" y="2504487"/>
            <a:ext cx="481220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a) Google 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40041" y="1028700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27940" y="-2321724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765801" cy="1799409"/>
          </a:xfrm>
          <a:custGeom>
            <a:avLst/>
            <a:gdLst/>
            <a:ahLst/>
            <a:cxnLst/>
            <a:rect l="l" t="t" r="r" b="b"/>
            <a:pathLst>
              <a:path w="1765801" h="1799409">
                <a:moveTo>
                  <a:pt x="0" y="0"/>
                </a:moveTo>
                <a:lnTo>
                  <a:pt x="1765801" y="0"/>
                </a:lnTo>
                <a:lnTo>
                  <a:pt x="1765801" y="1799409"/>
                </a:lnTo>
                <a:lnTo>
                  <a:pt x="0" y="1799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1" r="-9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19376" y="-12156"/>
            <a:ext cx="5468624" cy="1040856"/>
          </a:xfrm>
          <a:custGeom>
            <a:avLst/>
            <a:gdLst/>
            <a:ahLst/>
            <a:cxnLst/>
            <a:rect l="l" t="t" r="r" b="b"/>
            <a:pathLst>
              <a:path w="5468624" h="1040856">
                <a:moveTo>
                  <a:pt x="0" y="0"/>
                </a:moveTo>
                <a:lnTo>
                  <a:pt x="5468624" y="0"/>
                </a:lnTo>
                <a:lnTo>
                  <a:pt x="5468624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60360" y="4261769"/>
            <a:ext cx="4233183" cy="3177332"/>
          </a:xfrm>
          <a:custGeom>
            <a:avLst/>
            <a:gdLst/>
            <a:ahLst/>
            <a:cxnLst/>
            <a:rect l="l" t="t" r="r" b="b"/>
            <a:pathLst>
              <a:path w="4233183" h="3177332">
                <a:moveTo>
                  <a:pt x="0" y="0"/>
                </a:moveTo>
                <a:lnTo>
                  <a:pt x="4233183" y="0"/>
                </a:lnTo>
                <a:lnTo>
                  <a:pt x="4233183" y="3177332"/>
                </a:lnTo>
                <a:lnTo>
                  <a:pt x="0" y="31773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82900" y="2590212"/>
            <a:ext cx="2865974" cy="1671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8"/>
              </a:lnSpc>
            </a:pPr>
            <a:r>
              <a:rPr lang="en-US" sz="48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b) Notion</a:t>
            </a:r>
          </a:p>
          <a:p>
            <a:pPr algn="ctr">
              <a:lnSpc>
                <a:spcPts val="6728"/>
              </a:lnSpc>
            </a:pPr>
            <a:endParaRPr lang="en-US" sz="4806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08699" y="3670758"/>
            <a:ext cx="13178918" cy="5587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639" lvl="1" indent="-342820" algn="l">
              <a:lnSpc>
                <a:spcPts val="4446"/>
              </a:lnSpc>
              <a:buFont typeface="Arial"/>
              <a:buChar char="•"/>
            </a:pPr>
            <a:r>
              <a:rPr lang="en-US" sz="31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Notion is an all-in-one productivity tool for organizing notes, tasks, and projects. </a:t>
            </a:r>
          </a:p>
          <a:p>
            <a:pPr marL="685639" lvl="1" indent="-342820" algn="l">
              <a:lnSpc>
                <a:spcPts val="4446"/>
              </a:lnSpc>
              <a:buFont typeface="Arial"/>
              <a:buChar char="•"/>
            </a:pPr>
            <a:r>
              <a:rPr lang="en-US" sz="31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combines note-taking, databases, and collaboration features, allowing users to create, customize, and share content in real-time. </a:t>
            </a:r>
          </a:p>
          <a:p>
            <a:pPr marL="685639" lvl="1" indent="-342820" algn="l">
              <a:lnSpc>
                <a:spcPts val="4446"/>
              </a:lnSpc>
              <a:buFont typeface="Arial"/>
              <a:buChar char="•"/>
            </a:pPr>
            <a:r>
              <a:rPr lang="en-US" sz="31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available on web, desktop, and mobile, it syncs across devices for seamless use.</a:t>
            </a:r>
          </a:p>
          <a:p>
            <a:pPr marL="685639" lvl="1" indent="-342820" algn="l">
              <a:lnSpc>
                <a:spcPts val="4446"/>
              </a:lnSpc>
              <a:buFont typeface="Arial"/>
              <a:buChar char="•"/>
            </a:pPr>
            <a:r>
              <a:rPr lang="en-US" sz="317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supports real-time collaboration, where multiple people can edit and comment on the same document.</a:t>
            </a:r>
          </a:p>
          <a:p>
            <a:pPr algn="ctr">
              <a:lnSpc>
                <a:spcPts val="4446"/>
              </a:lnSpc>
              <a:spcBef>
                <a:spcPct val="0"/>
              </a:spcBef>
            </a:pPr>
            <a:endParaRPr lang="en-US" sz="317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82900" y="1784283"/>
            <a:ext cx="13899899" cy="791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74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Online Tools for Documents &amp; Collaboration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40041" y="1028700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27940" y="-2321724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82900" y="1743826"/>
            <a:ext cx="10037384" cy="1656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74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Online Tools for Cloud Storage</a:t>
            </a:r>
          </a:p>
          <a:p>
            <a:pPr algn="l">
              <a:lnSpc>
                <a:spcPts val="6642"/>
              </a:lnSpc>
            </a:pPr>
            <a:endParaRPr lang="en-US" sz="4744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82900" y="2533814"/>
            <a:ext cx="4498975" cy="1567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sz="452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a) Google Drive</a:t>
            </a:r>
          </a:p>
          <a:p>
            <a:pPr algn="l">
              <a:lnSpc>
                <a:spcPts val="6336"/>
              </a:lnSpc>
            </a:pPr>
            <a:endParaRPr lang="en-US" sz="4525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45254" y="3618808"/>
            <a:ext cx="13338714" cy="569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3894" lvl="1" indent="-351947" algn="l">
              <a:lnSpc>
                <a:spcPts val="4564"/>
              </a:lnSpc>
              <a:buFont typeface="Arial"/>
              <a:buChar char="•"/>
            </a:pPr>
            <a:r>
              <a:rPr lang="en-US" sz="32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Google Drive is a cloud-based storage service by Google that allows users to store, access, and share files securely from any device. </a:t>
            </a:r>
          </a:p>
          <a:p>
            <a:pPr marL="703894" lvl="1" indent="-351947" algn="l">
              <a:lnSpc>
                <a:spcPts val="4564"/>
              </a:lnSpc>
              <a:buFont typeface="Arial"/>
              <a:buChar char="•"/>
            </a:pPr>
            <a:r>
              <a:rPr lang="en-US" sz="32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supports a wide range of file types, including documents, images, videos, and PDFs, with automatic syncing across devices.</a:t>
            </a:r>
          </a:p>
          <a:p>
            <a:pPr marL="703894" lvl="1" indent="-351947" algn="l">
              <a:lnSpc>
                <a:spcPts val="4564"/>
              </a:lnSpc>
              <a:buFont typeface="Arial"/>
              <a:buChar char="•"/>
            </a:pPr>
            <a:r>
              <a:rPr lang="en-US" sz="32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Google Drive offers free storage with additional space available through paid plans.</a:t>
            </a:r>
          </a:p>
          <a:p>
            <a:pPr marL="703894" lvl="1" indent="-351947" algn="l">
              <a:lnSpc>
                <a:spcPts val="4564"/>
              </a:lnSpc>
              <a:buFont typeface="Arial"/>
              <a:buChar char="•"/>
            </a:pPr>
            <a:r>
              <a:rPr lang="en-US" sz="32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is widely used for personal storage, business collaboration, and backup solutions.</a:t>
            </a:r>
          </a:p>
        </p:txBody>
      </p:sp>
      <p:sp>
        <p:nvSpPr>
          <p:cNvPr id="8" name="Freeform 8"/>
          <p:cNvSpPr/>
          <p:nvPr/>
        </p:nvSpPr>
        <p:spPr>
          <a:xfrm>
            <a:off x="12819376" y="-12156"/>
            <a:ext cx="5468624" cy="1040856"/>
          </a:xfrm>
          <a:custGeom>
            <a:avLst/>
            <a:gdLst/>
            <a:ahLst/>
            <a:cxnLst/>
            <a:rect l="l" t="t" r="r" b="b"/>
            <a:pathLst>
              <a:path w="5468624" h="1040856">
                <a:moveTo>
                  <a:pt x="0" y="0"/>
                </a:moveTo>
                <a:lnTo>
                  <a:pt x="5468624" y="0"/>
                </a:lnTo>
                <a:lnTo>
                  <a:pt x="5468624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1765801" cy="1799409"/>
          </a:xfrm>
          <a:custGeom>
            <a:avLst/>
            <a:gdLst/>
            <a:ahLst/>
            <a:cxnLst/>
            <a:rect l="l" t="t" r="r" b="b"/>
            <a:pathLst>
              <a:path w="1765801" h="1799409">
                <a:moveTo>
                  <a:pt x="0" y="0"/>
                </a:moveTo>
                <a:lnTo>
                  <a:pt x="1765801" y="0"/>
                </a:lnTo>
                <a:lnTo>
                  <a:pt x="1765801" y="1799409"/>
                </a:lnTo>
                <a:lnTo>
                  <a:pt x="0" y="17994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51" r="-951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446915" y="4101131"/>
            <a:ext cx="3460851" cy="3801494"/>
          </a:xfrm>
          <a:custGeom>
            <a:avLst/>
            <a:gdLst/>
            <a:ahLst/>
            <a:cxnLst/>
            <a:rect l="l" t="t" r="r" b="b"/>
            <a:pathLst>
              <a:path w="3460851" h="3801494">
                <a:moveTo>
                  <a:pt x="0" y="0"/>
                </a:moveTo>
                <a:lnTo>
                  <a:pt x="3460851" y="0"/>
                </a:lnTo>
                <a:lnTo>
                  <a:pt x="3460851" y="3801494"/>
                </a:lnTo>
                <a:lnTo>
                  <a:pt x="0" y="38014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921" r="-4921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40041" y="1028700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27940" y="-2321724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765801" cy="1799409"/>
          </a:xfrm>
          <a:custGeom>
            <a:avLst/>
            <a:gdLst/>
            <a:ahLst/>
            <a:cxnLst/>
            <a:rect l="l" t="t" r="r" b="b"/>
            <a:pathLst>
              <a:path w="1765801" h="1799409">
                <a:moveTo>
                  <a:pt x="0" y="0"/>
                </a:moveTo>
                <a:lnTo>
                  <a:pt x="1765801" y="0"/>
                </a:lnTo>
                <a:lnTo>
                  <a:pt x="1765801" y="1799409"/>
                </a:lnTo>
                <a:lnTo>
                  <a:pt x="0" y="1799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1" r="-9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19376" y="-12156"/>
            <a:ext cx="5468624" cy="1040856"/>
          </a:xfrm>
          <a:custGeom>
            <a:avLst/>
            <a:gdLst/>
            <a:ahLst/>
            <a:cxnLst/>
            <a:rect l="l" t="t" r="r" b="b"/>
            <a:pathLst>
              <a:path w="5468624" h="1040856">
                <a:moveTo>
                  <a:pt x="0" y="0"/>
                </a:moveTo>
                <a:lnTo>
                  <a:pt x="5468624" y="0"/>
                </a:lnTo>
                <a:lnTo>
                  <a:pt x="5468624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93797" y="4519371"/>
            <a:ext cx="3636003" cy="3305658"/>
          </a:xfrm>
          <a:custGeom>
            <a:avLst/>
            <a:gdLst/>
            <a:ahLst/>
            <a:cxnLst/>
            <a:rect l="l" t="t" r="r" b="b"/>
            <a:pathLst>
              <a:path w="3636003" h="3305658">
                <a:moveTo>
                  <a:pt x="0" y="0"/>
                </a:moveTo>
                <a:lnTo>
                  <a:pt x="3636003" y="0"/>
                </a:lnTo>
                <a:lnTo>
                  <a:pt x="3636003" y="3305658"/>
                </a:lnTo>
                <a:lnTo>
                  <a:pt x="0" y="33056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492" t="-1145" b="-114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82900" y="2533814"/>
            <a:ext cx="4498975" cy="1567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sz="452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b) iCloud Drive</a:t>
            </a:r>
          </a:p>
          <a:p>
            <a:pPr algn="l">
              <a:lnSpc>
                <a:spcPts val="6336"/>
              </a:lnSpc>
            </a:pPr>
            <a:endParaRPr lang="en-US" sz="4525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47318" y="3575699"/>
            <a:ext cx="13237904" cy="5826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9789" lvl="1" indent="-359894" algn="l">
              <a:lnSpc>
                <a:spcPts val="4667"/>
              </a:lnSpc>
              <a:buFont typeface="Arial"/>
              <a:buChar char="•"/>
            </a:pPr>
            <a:r>
              <a:rPr lang="en-US" sz="33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iCloud Drive is Apple’s cloud storage service that allows users to store, access, and share files across all Apple devices.</a:t>
            </a:r>
          </a:p>
          <a:p>
            <a:pPr marL="719789" lvl="1" indent="-359894" algn="l">
              <a:lnSpc>
                <a:spcPts val="4667"/>
              </a:lnSpc>
              <a:buFont typeface="Arial"/>
              <a:buChar char="•"/>
            </a:pPr>
            <a:r>
              <a:rPr lang="en-US" sz="33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syncs documents, photos, and app data automatically, ensuring seamless access on iPhone, iPad, Mac, and even Windows.</a:t>
            </a:r>
          </a:p>
          <a:p>
            <a:pPr marL="719789" lvl="1" indent="-359894" algn="l">
              <a:lnSpc>
                <a:spcPts val="4667"/>
              </a:lnSpc>
              <a:buFont typeface="Arial"/>
              <a:buChar char="•"/>
            </a:pPr>
            <a:r>
              <a:rPr lang="en-US" sz="33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can organize files into folders and share them with others while maintaining control over permissions.</a:t>
            </a:r>
          </a:p>
          <a:p>
            <a:pPr marL="719789" lvl="1" indent="-359894" algn="l">
              <a:lnSpc>
                <a:spcPts val="4667"/>
              </a:lnSpc>
              <a:buFont typeface="Arial"/>
              <a:buChar char="•"/>
            </a:pPr>
            <a:r>
              <a:rPr lang="en-US" sz="33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widely used for backing up files, syncing data, and accessing documents from anywhere.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2900" y="1743826"/>
            <a:ext cx="10166100" cy="1656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74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Online Tools for Cloud Storage</a:t>
            </a:r>
          </a:p>
          <a:p>
            <a:pPr algn="l">
              <a:lnSpc>
                <a:spcPts val="6642"/>
              </a:lnSpc>
            </a:pPr>
            <a:endParaRPr lang="en-US" sz="4744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40041" y="1028700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27940" y="-2321724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765801" cy="1799409"/>
          </a:xfrm>
          <a:custGeom>
            <a:avLst/>
            <a:gdLst/>
            <a:ahLst/>
            <a:cxnLst/>
            <a:rect l="l" t="t" r="r" b="b"/>
            <a:pathLst>
              <a:path w="1765801" h="1799409">
                <a:moveTo>
                  <a:pt x="0" y="0"/>
                </a:moveTo>
                <a:lnTo>
                  <a:pt x="1765801" y="0"/>
                </a:lnTo>
                <a:lnTo>
                  <a:pt x="1765801" y="1799409"/>
                </a:lnTo>
                <a:lnTo>
                  <a:pt x="0" y="1799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1" r="-9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19376" y="-12156"/>
            <a:ext cx="5468624" cy="1040856"/>
          </a:xfrm>
          <a:custGeom>
            <a:avLst/>
            <a:gdLst/>
            <a:ahLst/>
            <a:cxnLst/>
            <a:rect l="l" t="t" r="r" b="b"/>
            <a:pathLst>
              <a:path w="5468624" h="1040856">
                <a:moveTo>
                  <a:pt x="0" y="0"/>
                </a:moveTo>
                <a:lnTo>
                  <a:pt x="5468624" y="0"/>
                </a:lnTo>
                <a:lnTo>
                  <a:pt x="5468624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83190" y="885825"/>
            <a:ext cx="7050732" cy="129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 time uses: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3830" y="2307721"/>
            <a:ext cx="16924028" cy="7560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6"/>
              </a:lnSpc>
            </a:pPr>
            <a:r>
              <a:rPr lang="en-US" sz="359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Google Forms</a:t>
            </a:r>
            <a:r>
              <a:rPr lang="en-US" sz="35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During the COVID-19 pandemic, government agencies and healthcare organizations used Google Forms to collect real-time data on symptoms, vaccine registrations, and public feedback.</a:t>
            </a:r>
          </a:p>
          <a:p>
            <a:pPr algn="just">
              <a:lnSpc>
                <a:spcPts val="5036"/>
              </a:lnSpc>
            </a:pPr>
            <a:endParaRPr lang="en-US" sz="359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036"/>
              </a:lnSpc>
            </a:pPr>
            <a:r>
              <a:rPr lang="en-US" sz="359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2.Microsoft Forms</a:t>
            </a:r>
            <a:r>
              <a:rPr lang="en-US" sz="35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Microsoft Forms is widely used by companies like Deloitte to conduct employee satisfaction surveys, gather training feedback, and improve workplace policies.</a:t>
            </a:r>
          </a:p>
          <a:p>
            <a:pPr algn="just">
              <a:lnSpc>
                <a:spcPts val="5036"/>
              </a:lnSpc>
            </a:pPr>
            <a:endParaRPr lang="en-US" sz="359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036"/>
              </a:lnSpc>
            </a:pPr>
            <a:r>
              <a:rPr lang="en-US" sz="359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Google Docs</a:t>
            </a:r>
            <a:r>
              <a:rPr lang="en-US" sz="35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Companies like Buffer and Zapier, which operate fully remotely, rely on Google Docs for seamless document collaboration, reducing the need for excessive emails</a:t>
            </a:r>
          </a:p>
          <a:p>
            <a:pPr algn="just">
              <a:lnSpc>
                <a:spcPts val="5036"/>
              </a:lnSpc>
              <a:spcBef>
                <a:spcPct val="0"/>
              </a:spcBef>
            </a:pPr>
            <a:endParaRPr lang="en-US" sz="359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40041" y="1028700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27940" y="-2321724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765801" cy="1799409"/>
          </a:xfrm>
          <a:custGeom>
            <a:avLst/>
            <a:gdLst/>
            <a:ahLst/>
            <a:cxnLst/>
            <a:rect l="l" t="t" r="r" b="b"/>
            <a:pathLst>
              <a:path w="1765801" h="1799409">
                <a:moveTo>
                  <a:pt x="0" y="0"/>
                </a:moveTo>
                <a:lnTo>
                  <a:pt x="1765801" y="0"/>
                </a:lnTo>
                <a:lnTo>
                  <a:pt x="1765801" y="1799409"/>
                </a:lnTo>
                <a:lnTo>
                  <a:pt x="0" y="1799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1" r="-9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19376" y="-12156"/>
            <a:ext cx="5468624" cy="1040856"/>
          </a:xfrm>
          <a:custGeom>
            <a:avLst/>
            <a:gdLst/>
            <a:ahLst/>
            <a:cxnLst/>
            <a:rect l="l" t="t" r="r" b="b"/>
            <a:pathLst>
              <a:path w="5468624" h="1040856">
                <a:moveTo>
                  <a:pt x="0" y="0"/>
                </a:moveTo>
                <a:lnTo>
                  <a:pt x="5468624" y="0"/>
                </a:lnTo>
                <a:lnTo>
                  <a:pt x="5468624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83190" y="885825"/>
            <a:ext cx="7050732" cy="129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 time uses: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3830" y="2226544"/>
            <a:ext cx="17240028" cy="768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30"/>
              </a:lnSpc>
            </a:pPr>
            <a:r>
              <a:rPr lang="en-US" sz="366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Notion</a:t>
            </a:r>
            <a:r>
              <a:rPr lang="en-US" sz="36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Teams at startups like Figma and MatchGroup use Notion to manage projects, organize knowledge bases, and streamline workflows, boosting efficiency.</a:t>
            </a:r>
          </a:p>
          <a:p>
            <a:pPr algn="just">
              <a:lnSpc>
                <a:spcPts val="5130"/>
              </a:lnSpc>
            </a:pPr>
            <a:endParaRPr lang="en-US" sz="366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130"/>
              </a:lnSpc>
            </a:pPr>
            <a:r>
              <a:rPr lang="en-US" sz="366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Google Drive</a:t>
            </a:r>
            <a:r>
              <a:rPr lang="en-US" sz="36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Media companies like BuzzFeed and The New York Times use Google Drive to store and share large multimedia files, ensuring quick access for global teams.</a:t>
            </a:r>
          </a:p>
          <a:p>
            <a:pPr algn="just">
              <a:lnSpc>
                <a:spcPts val="5130"/>
              </a:lnSpc>
            </a:pPr>
            <a:endParaRPr lang="en-US" sz="366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130"/>
              </a:lnSpc>
            </a:pPr>
            <a:r>
              <a:rPr lang="en-US" sz="366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 iCloud Drive</a:t>
            </a:r>
            <a:r>
              <a:rPr lang="en-US" sz="36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Creative professionals, including photographers and designers, use iCloud Drive to sync projects across Mac, iPad, and iPhone, ensuring seamless access on all Apple devices.</a:t>
            </a:r>
          </a:p>
          <a:p>
            <a:pPr algn="just">
              <a:lnSpc>
                <a:spcPts val="5130"/>
              </a:lnSpc>
              <a:spcBef>
                <a:spcPct val="0"/>
              </a:spcBef>
            </a:pPr>
            <a:endParaRPr lang="en-US" sz="366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77" b="-87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40041" y="1028700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0" y="0"/>
                </a:moveTo>
                <a:lnTo>
                  <a:pt x="7367716" y="0"/>
                </a:lnTo>
                <a:lnTo>
                  <a:pt x="73677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27940" y="-2321724"/>
            <a:ext cx="7367716" cy="10287000"/>
          </a:xfrm>
          <a:custGeom>
            <a:avLst/>
            <a:gdLst/>
            <a:ahLst/>
            <a:cxnLst/>
            <a:rect l="l" t="t" r="r" b="b"/>
            <a:pathLst>
              <a:path w="7367716" h="10287000">
                <a:moveTo>
                  <a:pt x="736771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367716" y="0"/>
                </a:lnTo>
                <a:lnTo>
                  <a:pt x="7367716" y="10287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765801" cy="1799409"/>
          </a:xfrm>
          <a:custGeom>
            <a:avLst/>
            <a:gdLst/>
            <a:ahLst/>
            <a:cxnLst/>
            <a:rect l="l" t="t" r="r" b="b"/>
            <a:pathLst>
              <a:path w="1765801" h="1799409">
                <a:moveTo>
                  <a:pt x="0" y="0"/>
                </a:moveTo>
                <a:lnTo>
                  <a:pt x="1765801" y="0"/>
                </a:lnTo>
                <a:lnTo>
                  <a:pt x="1765801" y="1799409"/>
                </a:lnTo>
                <a:lnTo>
                  <a:pt x="0" y="1799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1" r="-95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19376" y="-12156"/>
            <a:ext cx="5468624" cy="1040856"/>
          </a:xfrm>
          <a:custGeom>
            <a:avLst/>
            <a:gdLst/>
            <a:ahLst/>
            <a:cxnLst/>
            <a:rect l="l" t="t" r="r" b="b"/>
            <a:pathLst>
              <a:path w="5468624" h="1040856">
                <a:moveTo>
                  <a:pt x="0" y="0"/>
                </a:moveTo>
                <a:lnTo>
                  <a:pt x="5468624" y="0"/>
                </a:lnTo>
                <a:lnTo>
                  <a:pt x="5468624" y="1040856"/>
                </a:lnTo>
                <a:lnTo>
                  <a:pt x="0" y="10408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73496" y="3847490"/>
            <a:ext cx="13741008" cy="176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578"/>
              </a:lnSpc>
            </a:pPr>
            <a:r>
              <a:rPr lang="en-US" sz="12343" b="1">
                <a:solidFill>
                  <a:srgbClr val="1D1D1F"/>
                </a:solidFill>
                <a:latin typeface="Raleway Bold"/>
                <a:ea typeface="Raleway Bold"/>
                <a:cs typeface="Raleway Bold"/>
                <a:sym typeface="Raleway Bold"/>
              </a:rPr>
              <a:t>THANK YOU...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886</Words>
  <Application>Microsoft Office PowerPoint</Application>
  <PresentationFormat>Custom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Canva Sans</vt:lpstr>
      <vt:lpstr>Raleway Bold</vt:lpstr>
      <vt:lpstr>Arial</vt:lpstr>
      <vt:lpstr>Canva Sans Bold</vt:lpstr>
      <vt:lpstr>Now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Blue and White Simple Pitch Deck Presentation</dc:title>
  <cp:lastModifiedBy>12-C / 12 Dixita Antala</cp:lastModifiedBy>
  <cp:revision>5</cp:revision>
  <dcterms:created xsi:type="dcterms:W3CDTF">2006-08-16T00:00:00Z</dcterms:created>
  <dcterms:modified xsi:type="dcterms:W3CDTF">2025-02-18T16:38:18Z</dcterms:modified>
  <dc:identifier>DAGe_W6x7O4</dc:identifier>
</cp:coreProperties>
</file>