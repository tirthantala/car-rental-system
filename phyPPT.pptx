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01" r:id="rId1"/>
  </p:sldMasterIdLst>
  <p:sldIdLst>
    <p:sldId id="256" r:id="rId2"/>
    <p:sldId id="257" r:id="rId3"/>
    <p:sldId id="263" r:id="rId4"/>
    <p:sldId id="264" r:id="rId5"/>
    <p:sldId id="262" r:id="rId6"/>
    <p:sldId id="258" r:id="rId7"/>
    <p:sldId id="265" r:id="rId8"/>
    <p:sldId id="259" r:id="rId9"/>
    <p:sldId id="260" r:id="rId10"/>
  </p:sldIdLst>
  <p:sldSz cx="12192000" cy="6858000"/>
  <p:notesSz cx="6858000" cy="9144000"/>
  <p:embeddedFontLst>
    <p:embeddedFont>
      <p:font typeface="Bodoni MT" panose="02070603080606020203" pitchFamily="18" charset="0"/>
      <p:regular r:id="rId11"/>
      <p:bold r:id="rId12"/>
      <p:italic r:id="rId13"/>
      <p:boldItalic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Wingdings 3" panose="05040102010807070707" pitchFamily="18" charset="2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4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2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8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7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28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66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2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31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09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0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4929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7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7671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12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33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7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78144-6FD4-461A-BEE3-AC1989F0538A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3A6F0B9-6EDB-4F55-99E3-017684D7D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8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  <p:sldLayoutId id="2147483915" r:id="rId14"/>
    <p:sldLayoutId id="2147483916" r:id="rId15"/>
    <p:sldLayoutId id="21474839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DC19-8E5F-4EBE-976D-B016F37BF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981" y="870103"/>
            <a:ext cx="10955548" cy="699905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Bodoni MT" panose="02070603080606020203" pitchFamily="18" charset="0"/>
                <a:cs typeface="Times New Roman" pitchFamily="18" charset="0"/>
              </a:rPr>
              <a:t>PHOTODOIDE  FIRE  ALARM  SYSTEM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695AABC-5781-469E-A0AB-5ABC4A3A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737" y="3111835"/>
            <a:ext cx="1917940" cy="400619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b="1" dirty="0"/>
              <a:t>Prepared By:-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1ABFC-AE90-4EE9-BAA9-5820F5EDC6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E81F9E-9554-4840-A6CA-C59F6CE312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4" y="77271"/>
            <a:ext cx="741512" cy="77637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D55FA08-CA50-47E8-A997-75CDCF3824F3}"/>
              </a:ext>
            </a:extLst>
          </p:cNvPr>
          <p:cNvSpPr/>
          <p:nvPr/>
        </p:nvSpPr>
        <p:spPr>
          <a:xfrm>
            <a:off x="625737" y="3802169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10FF16-371F-4D3A-B26E-8EAA8C264A80}"/>
              </a:ext>
            </a:extLst>
          </p:cNvPr>
          <p:cNvSpPr/>
          <p:nvPr/>
        </p:nvSpPr>
        <p:spPr>
          <a:xfrm>
            <a:off x="649857" y="5282240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4E336E-7A0B-420B-9F1E-990CF03C1B43}"/>
              </a:ext>
            </a:extLst>
          </p:cNvPr>
          <p:cNvSpPr/>
          <p:nvPr/>
        </p:nvSpPr>
        <p:spPr>
          <a:xfrm>
            <a:off x="6711351" y="5270738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341901-BE3E-449B-BE1E-728B0E75A7C2}"/>
              </a:ext>
            </a:extLst>
          </p:cNvPr>
          <p:cNvSpPr/>
          <p:nvPr/>
        </p:nvSpPr>
        <p:spPr>
          <a:xfrm>
            <a:off x="6699322" y="3756801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A2CEA0-2249-4C4B-8809-E1935DAC2406}"/>
              </a:ext>
            </a:extLst>
          </p:cNvPr>
          <p:cNvSpPr/>
          <p:nvPr/>
        </p:nvSpPr>
        <p:spPr>
          <a:xfrm>
            <a:off x="6667577" y="2216589"/>
            <a:ext cx="4899804" cy="10955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BFD1E-FEEC-3531-BD1D-A17177AD580C}"/>
              </a:ext>
            </a:extLst>
          </p:cNvPr>
          <p:cNvSpPr txBox="1"/>
          <p:nvPr/>
        </p:nvSpPr>
        <p:spPr>
          <a:xfrm>
            <a:off x="646981" y="3795482"/>
            <a:ext cx="4899804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NAME:-LIMBASIYA AYUSHKUMAR CHAMPAKBHAI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ENR NO:-24002170110083</a:t>
            </a:r>
          </a:p>
          <a:p>
            <a:r>
              <a:rPr lang="en-US" sz="1600" dirty="0">
                <a:latin typeface="+mj-lt"/>
              </a:rPr>
              <a:t>DIV-D2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3FD40-EE7D-7548-5E04-C072B393CDA6}"/>
              </a:ext>
            </a:extLst>
          </p:cNvPr>
          <p:cNvSpPr txBox="1"/>
          <p:nvPr/>
        </p:nvSpPr>
        <p:spPr>
          <a:xfrm>
            <a:off x="646981" y="5282240"/>
            <a:ext cx="4899804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NAME:-MUNGALPARA YASHBHAI PARESHBHAI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ENR NO:-24002170110095</a:t>
            </a:r>
          </a:p>
          <a:p>
            <a:r>
              <a:rPr lang="en-US" sz="1600" dirty="0">
                <a:latin typeface="+mj-lt"/>
              </a:rPr>
              <a:t>DIV:-D2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CBB463-EC55-EAA7-4674-F2EE07F0075F}"/>
              </a:ext>
            </a:extLst>
          </p:cNvPr>
          <p:cNvSpPr txBox="1"/>
          <p:nvPr/>
        </p:nvSpPr>
        <p:spPr>
          <a:xfrm>
            <a:off x="6667577" y="2216588"/>
            <a:ext cx="4875623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NAME:-ANTALA TIRTH ARVINDBHAI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ENR NO:-2400217011009</a:t>
            </a:r>
          </a:p>
          <a:p>
            <a:r>
              <a:rPr lang="en-US" sz="1600" dirty="0">
                <a:latin typeface="+mj-lt"/>
              </a:rPr>
              <a:t>DIV:-D2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D86BC3-5FAA-3C81-BE01-63BFCA3C1C04}"/>
              </a:ext>
            </a:extLst>
          </p:cNvPr>
          <p:cNvSpPr txBox="1"/>
          <p:nvPr/>
        </p:nvSpPr>
        <p:spPr>
          <a:xfrm>
            <a:off x="6667339" y="3749781"/>
            <a:ext cx="4847722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NAME:-PATEL DEV PARGNESHBHAI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ENR NO:-24002170110139</a:t>
            </a:r>
          </a:p>
          <a:p>
            <a:r>
              <a:rPr lang="en-US" sz="1600" dirty="0">
                <a:latin typeface="+mj-lt"/>
              </a:rPr>
              <a:t>DIV:-D2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57E6C4-5CED-5E53-7E98-035F454531AF}"/>
              </a:ext>
            </a:extLst>
          </p:cNvPr>
          <p:cNvSpPr txBox="1"/>
          <p:nvPr/>
        </p:nvSpPr>
        <p:spPr>
          <a:xfrm>
            <a:off x="6711351" y="5270738"/>
            <a:ext cx="4931488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+mj-lt"/>
              </a:rPr>
              <a:t>NAME:-JAIN SUHANI PANKAJKUMAR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ENR NO:-24002170110062</a:t>
            </a:r>
          </a:p>
          <a:p>
            <a:r>
              <a:rPr lang="en-US" sz="1600" dirty="0">
                <a:latin typeface="+mj-lt"/>
              </a:rPr>
              <a:t>DIV:-D2</a:t>
            </a:r>
          </a:p>
        </p:txBody>
      </p:sp>
    </p:spTree>
    <p:extLst>
      <p:ext uri="{BB962C8B-B14F-4D97-AF65-F5344CB8AC3E}">
        <p14:creationId xmlns:p14="http://schemas.microsoft.com/office/powerpoint/2010/main" val="361097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06F7-ED6A-4550-B6AE-5AB4126B3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5" y="1799187"/>
            <a:ext cx="10826856" cy="4312546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2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+mj-lt"/>
              </a:rPr>
              <a:t>  </a:t>
            </a:r>
          </a:p>
          <a:p>
            <a:pPr>
              <a:buNone/>
            </a:pPr>
            <a:r>
              <a:rPr lang="en-US" sz="3600" b="1" dirty="0">
                <a:solidFill>
                  <a:schemeClr val="tx1"/>
                </a:solidFill>
                <a:latin typeface="+mj-lt"/>
              </a:rPr>
              <a:t>  </a:t>
            </a: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              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12475" y="884180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odoni MT" panose="02070603080606020203" pitchFamily="18" charset="0"/>
              </a:rPr>
              <a:t>PROJECT  OUTLINE:-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E97CC5-341A-8102-1C84-C111B1AE8639}"/>
              </a:ext>
            </a:extLst>
          </p:cNvPr>
          <p:cNvSpPr txBox="1"/>
          <p:nvPr/>
        </p:nvSpPr>
        <p:spPr>
          <a:xfrm>
            <a:off x="548129" y="1831801"/>
            <a:ext cx="10955548" cy="4247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INTRODUCTION</a:t>
            </a:r>
          </a:p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THE PHOTODIODE FIRE ALARM WORKS</a:t>
            </a:r>
          </a:p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COMPONENTS USED</a:t>
            </a:r>
          </a:p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CIRCUIT DIAGRAM </a:t>
            </a:r>
          </a:p>
          <a:p>
            <a:pPr marL="514350" indent="-514350">
              <a:buFontTx/>
              <a:buAutoNum type="arabicPeriod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FUTURE SCOPES / ADVANTAGE / DISADVANTAGE</a:t>
            </a:r>
            <a:endParaRPr lang="en-US" sz="2800" b="1" dirty="0">
              <a:solidFill>
                <a:prstClr val="black"/>
              </a:solidFill>
              <a:latin typeface="+mj-lt"/>
            </a:endParaRPr>
          </a:p>
          <a:p>
            <a:pPr marL="514350" indent="-514350">
              <a:buAutoNum type="arabicPeriod"/>
            </a:pPr>
            <a:endParaRPr lang="en-US" sz="2800" b="1" dirty="0">
              <a:latin typeface="Bodoni MT" panose="02070603080606020203" pitchFamily="18" charset="0"/>
            </a:endParaRPr>
          </a:p>
          <a:p>
            <a:pPr marL="514350" indent="-514350">
              <a:buAutoNum type="arabicPeriod"/>
            </a:pPr>
            <a:endParaRPr lang="en-US" sz="2800" b="1" dirty="0">
              <a:latin typeface="Bodoni MT" panose="02070603080606020203" pitchFamily="18" charset="0"/>
            </a:endParaRPr>
          </a:p>
          <a:p>
            <a:pPr>
              <a:buNone/>
            </a:pPr>
            <a:endParaRPr lang="en-US" sz="2800" b="1" dirty="0">
              <a:solidFill>
                <a:schemeClr val="tx1"/>
              </a:solidFill>
              <a:latin typeface="+mj-lt"/>
            </a:endParaRPr>
          </a:p>
          <a:p>
            <a:pPr>
              <a:buNone/>
            </a:pPr>
            <a:endParaRPr lang="en-US" sz="2800" b="1" dirty="0">
              <a:solidFill>
                <a:schemeClr val="tx1"/>
              </a:solidFill>
              <a:latin typeface="+mj-lt"/>
            </a:endParaRPr>
          </a:p>
          <a:p>
            <a:pPr>
              <a:buNone/>
            </a:pP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4C1E5B-FC9E-5D74-4204-6A2730235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258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3D6096-71D5-3DFB-C8CA-E38D16B77F13}"/>
              </a:ext>
            </a:extLst>
          </p:cNvPr>
          <p:cNvSpPr txBox="1"/>
          <p:nvPr/>
        </p:nvSpPr>
        <p:spPr>
          <a:xfrm>
            <a:off x="564501" y="2153217"/>
            <a:ext cx="10772190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Photodiode Fire Alarm System</a:t>
            </a:r>
            <a:r>
              <a:rPr lang="en-US" sz="2400" dirty="0"/>
              <a:t> is an innovative approach to early fire detection using light sensors. It works by detecting sudden changes in light intensity, which could be a result of a fire or smoke. </a:t>
            </a:r>
          </a:p>
          <a:p>
            <a:endParaRPr lang="en-US" sz="2400" dirty="0"/>
          </a:p>
          <a:p>
            <a:r>
              <a:rPr lang="en-US" sz="2400" b="1" dirty="0"/>
              <a:t>1</a:t>
            </a:r>
            <a:r>
              <a:rPr lang="en-US" sz="2400" dirty="0"/>
              <a:t>.The photodiode, typically a semiconductor, detects the intensity of light in its environment.</a:t>
            </a:r>
          </a:p>
          <a:p>
            <a:endParaRPr lang="en-US" sz="2400" dirty="0"/>
          </a:p>
          <a:p>
            <a:r>
              <a:rPr lang="en-US" sz="2400" b="1" dirty="0"/>
              <a:t>2</a:t>
            </a:r>
            <a:r>
              <a:rPr lang="en-US" sz="2400" dirty="0"/>
              <a:t>.When the system detects an unusual amount of light (such as the light emitted during a fire), it triggers an alarm by activating components such as a buzzer and an LED.</a:t>
            </a:r>
            <a:endParaRPr lang="en-IN" sz="2400" b="1" dirty="0"/>
          </a:p>
          <a:p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7ADB07-A1A3-9AEC-D735-4663651874E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53749" y="-724869"/>
            <a:ext cx="103523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8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B189CB7-99F9-0D1E-5D1E-8925FA32B828}"/>
              </a:ext>
            </a:extLst>
          </p:cNvPr>
          <p:cNvSpPr txBox="1">
            <a:spLocks/>
          </p:cNvSpPr>
          <p:nvPr/>
        </p:nvSpPr>
        <p:spPr>
          <a:xfrm>
            <a:off x="564501" y="1159316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odoni MT" panose="02070603080606020203" pitchFamily="18" charset="0"/>
              </a:rPr>
              <a:t>INTRODUCTION:-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2C9ED-CC6D-55ED-5D83-A8AA5780DE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02"/>
            <a:ext cx="741512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F61240-26C0-D4ED-CC86-858BD5F5C5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39482" y="13701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91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94B80D-F9A6-EC87-371E-4BDD1C0F0F07}"/>
              </a:ext>
            </a:extLst>
          </p:cNvPr>
          <p:cNvSpPr txBox="1"/>
          <p:nvPr/>
        </p:nvSpPr>
        <p:spPr>
          <a:xfrm>
            <a:off x="783770" y="898573"/>
            <a:ext cx="547318" cy="1084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09F1D-F2CF-6CF8-AA3A-9F5D1BA486AD}"/>
              </a:ext>
            </a:extLst>
          </p:cNvPr>
          <p:cNvSpPr txBox="1"/>
          <p:nvPr/>
        </p:nvSpPr>
        <p:spPr>
          <a:xfrm>
            <a:off x="446460" y="2025570"/>
            <a:ext cx="10955548" cy="41946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sz="2400" b="1" dirty="0">
                <a:latin typeface="+mj-lt"/>
              </a:rPr>
              <a:t>Photodiode Fire Alarm System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works</a:t>
            </a:r>
            <a:r>
              <a:rPr lang="en-US" sz="2400" dirty="0">
                <a:latin typeface="+mj-lt"/>
              </a:rPr>
              <a:t> 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+mj-lt"/>
              </a:rPr>
              <a:t>Fire Detection</a:t>
            </a:r>
            <a:r>
              <a:rPr lang="en-US" sz="2000" dirty="0">
                <a:latin typeface="+mj-lt"/>
              </a:rPr>
              <a:t>: When a fire occurs, the light intensity increases, causing the photodiode to generate a signal.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+mj-lt"/>
              </a:rPr>
              <a:t>Signal Amplification</a:t>
            </a:r>
            <a:r>
              <a:rPr lang="en-US" sz="2000" dirty="0">
                <a:latin typeface="+mj-lt"/>
              </a:rPr>
              <a:t>: The signal is amplified by a </a:t>
            </a:r>
            <a:r>
              <a:rPr lang="en-US" sz="2000" b="1" dirty="0">
                <a:latin typeface="+mj-lt"/>
              </a:rPr>
              <a:t>transistor</a:t>
            </a:r>
            <a:r>
              <a:rPr lang="en-US" sz="2000" dirty="0">
                <a:latin typeface="+mj-lt"/>
              </a:rPr>
              <a:t> to make it strong enough to trigger the alarm.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+mj-lt"/>
              </a:rPr>
              <a:t>Alarm Activation</a:t>
            </a:r>
            <a:r>
              <a:rPr lang="en-US" sz="2000" dirty="0">
                <a:latin typeface="+mj-lt"/>
              </a:rPr>
              <a:t>: The amplified signal activates the </a:t>
            </a:r>
            <a:r>
              <a:rPr lang="en-US" sz="2000" b="1" dirty="0">
                <a:latin typeface="+mj-lt"/>
              </a:rPr>
              <a:t>buzzer</a:t>
            </a:r>
            <a:r>
              <a:rPr lang="en-US" sz="2000" dirty="0">
                <a:latin typeface="+mj-lt"/>
              </a:rPr>
              <a:t> and </a:t>
            </a:r>
            <a:r>
              <a:rPr lang="en-US" sz="2000" b="1" dirty="0">
                <a:latin typeface="+mj-lt"/>
              </a:rPr>
              <a:t>LED</a:t>
            </a:r>
            <a:r>
              <a:rPr lang="en-US" sz="2000" dirty="0">
                <a:latin typeface="+mj-lt"/>
              </a:rPr>
              <a:t>, alerting people to the fire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8606269-B913-4C14-11BF-631A7119B127}"/>
              </a:ext>
            </a:extLst>
          </p:cNvPr>
          <p:cNvSpPr txBox="1">
            <a:spLocks/>
          </p:cNvSpPr>
          <p:nvPr/>
        </p:nvSpPr>
        <p:spPr>
          <a:xfrm>
            <a:off x="446459" y="1006997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odoni MT" panose="02070603080606020203" pitchFamily="18" charset="0"/>
              </a:rPr>
              <a:t>THE  PHOTODIODE  FIRE  ALARM  WORKS:-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9E438-4B07-A115-AFB0-7F1681A8C3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8E319F-94C7-E065-9B41-9904E46854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039482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0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06F7-ED6A-4550-B6AE-5AB4126B3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5" y="1986376"/>
            <a:ext cx="10990053" cy="435133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2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46980" y="859901"/>
            <a:ext cx="10932545" cy="7763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odoni MT" panose="02070603080606020203" pitchFamily="18" charset="0"/>
              </a:rPr>
              <a:t>COMPONENTS  USED:-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" y="4176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8652B0-E0FA-7FE6-D3F3-C6C684677A96}"/>
              </a:ext>
            </a:extLst>
          </p:cNvPr>
          <p:cNvSpPr txBox="1"/>
          <p:nvPr/>
        </p:nvSpPr>
        <p:spPr>
          <a:xfrm>
            <a:off x="623977" y="1970988"/>
            <a:ext cx="10955548" cy="44319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1.Transistors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signal amplification)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2.Photodiode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fire detection)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3.Resistors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(for circuit stability)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4.Buzzer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alarm sound)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5.LED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visual indication)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6.Power Supply (9V battery)</a:t>
            </a:r>
            <a:endParaRPr kumimoji="0" lang="en-I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487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46981" y="870103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Bodoni MT" panose="02070603080606020203" pitchFamily="18" charset="0"/>
              </a:rPr>
              <a:t>CIRCUIT  DIAGRAM 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F95CFC-3939-4CF0-B809-D0581FA7E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537" y="1825625"/>
            <a:ext cx="10990053" cy="4351338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2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       </a:t>
            </a: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              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2015A-151C-43B8-1A59-F34898D8E9A7}"/>
              </a:ext>
            </a:extLst>
          </p:cNvPr>
          <p:cNvSpPr txBox="1"/>
          <p:nvPr/>
        </p:nvSpPr>
        <p:spPr>
          <a:xfrm>
            <a:off x="625537" y="1825625"/>
            <a:ext cx="10976992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26848-8633-38CD-8867-7B0B8AE4C6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404" y="1825625"/>
            <a:ext cx="3774328" cy="449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6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4A18F-CACE-4232-9A06-DA74B5C9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5AE285-4955-654C-029A-8353DBC384ED}"/>
              </a:ext>
            </a:extLst>
          </p:cNvPr>
          <p:cNvSpPr txBox="1">
            <a:spLocks/>
          </p:cNvSpPr>
          <p:nvPr/>
        </p:nvSpPr>
        <p:spPr>
          <a:xfrm>
            <a:off x="646981" y="870103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ADVANTAGE/ DISADVANTAGE</a:t>
            </a: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doni MT" panose="02070603080606020203" pitchFamily="18" charset="0"/>
                <a:cs typeface="Times New Roman" pitchFamily="18" charset="0"/>
              </a:rPr>
              <a:t> </a:t>
            </a:r>
            <a:endParaRPr lang="en-US" sz="4000" b="1" dirty="0">
              <a:solidFill>
                <a:prstClr val="black"/>
              </a:solidFill>
              <a:latin typeface="Bodoni MT" panose="020706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5E233-6034-71C4-BDC1-4B83CC2A7C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487FE3-D1C7-41DF-B581-A34F8C2F84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2AC11D3-1410-1BEC-9B73-D2D845DD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537" y="1825625"/>
            <a:ext cx="10990053" cy="4351338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2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       </a:t>
            </a: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              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2D812-17B4-9132-AA43-3320279636F6}"/>
              </a:ext>
            </a:extLst>
          </p:cNvPr>
          <p:cNvSpPr txBox="1"/>
          <p:nvPr/>
        </p:nvSpPr>
        <p:spPr>
          <a:xfrm>
            <a:off x="625537" y="1825625"/>
            <a:ext cx="10976992" cy="46387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Advantage: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1.Low-cost fire detection system.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2.Quick response time.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3.Easy to implement.</a:t>
            </a:r>
          </a:p>
          <a:p>
            <a:r>
              <a:rPr lang="en-US" sz="2400" b="1" dirty="0"/>
              <a:t>Disadvantage: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1.May give false alarms due to external light sources.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2.Limited range of detection.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1500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06F7-ED6A-4550-B6AE-5AB4126B3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75" y="1825625"/>
            <a:ext cx="10990053" cy="4351338"/>
          </a:xfrm>
          <a:solidFill>
            <a:schemeClr val="accent2">
              <a:lumMod val="20000"/>
              <a:lumOff val="80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  <a:latin typeface="+mj-lt"/>
            </a:endParaRPr>
          </a:p>
          <a:p>
            <a:pPr marL="0" indent="0"/>
            <a:endParaRPr lang="en-US" sz="1400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46981" y="870103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FUTURE SCOPES</a:t>
            </a:r>
            <a:endParaRPr lang="en-US" sz="4000" b="1" dirty="0">
              <a:solidFill>
                <a:prstClr val="black"/>
              </a:solidFill>
              <a:latin typeface="Bodoni MT" panose="020706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864AC4-91B1-EBC9-D9B5-328BC3E62077}"/>
              </a:ext>
            </a:extLst>
          </p:cNvPr>
          <p:cNvSpPr txBox="1"/>
          <p:nvPr/>
        </p:nvSpPr>
        <p:spPr>
          <a:xfrm>
            <a:off x="612475" y="1862247"/>
            <a:ext cx="10990052" cy="4278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dirty="0"/>
              <a:t>Future Scope:</a:t>
            </a:r>
            <a:endParaRPr lang="en-US" sz="2400" b="1" dirty="0"/>
          </a:p>
          <a:p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dirty="0"/>
              <a:t>1.Integration with IoT for remote monitoring.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2.Use of GSM modules for SMS alerts.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3.Improved accuracy using IR flame sensors.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95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CC29B81-3830-43D1-8B37-FAE1AF341739}"/>
              </a:ext>
            </a:extLst>
          </p:cNvPr>
          <p:cNvSpPr txBox="1">
            <a:spLocks/>
          </p:cNvSpPr>
          <p:nvPr/>
        </p:nvSpPr>
        <p:spPr>
          <a:xfrm>
            <a:off x="664233" y="3328632"/>
            <a:ext cx="10955548" cy="6999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doni MT" panose="02070603080606020203" pitchFamily="18" charset="0"/>
                <a:ea typeface="+mj-ea"/>
                <a:cs typeface="+mj-cs"/>
              </a:rPr>
              <a:t>THANK YOU….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4A87F-CCA0-427F-A3F0-8B3BF0EA18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77A39-F2EF-44EA-A247-25F97DC0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6346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597</TotalTime>
  <Words>393</Words>
  <Application>Microsoft Office PowerPoint</Application>
  <PresentationFormat>Widescreen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Wingdings 3</vt:lpstr>
      <vt:lpstr>Century Gothic</vt:lpstr>
      <vt:lpstr>Bodoni MT</vt:lpstr>
      <vt:lpstr>Times New Roman</vt:lpstr>
      <vt:lpstr>Arial</vt:lpstr>
      <vt:lpstr>Wisp</vt:lpstr>
      <vt:lpstr>PHOTODOIDE  FIRE  ALARM 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Definition</dc:title>
  <dc:creator>LJIET</dc:creator>
  <cp:lastModifiedBy>12-C / 12 Dixita Antala</cp:lastModifiedBy>
  <cp:revision>67</cp:revision>
  <dcterms:created xsi:type="dcterms:W3CDTF">2022-02-18T03:37:33Z</dcterms:created>
  <dcterms:modified xsi:type="dcterms:W3CDTF">2025-02-20T03:17:43Z</dcterms:modified>
</cp:coreProperties>
</file>